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B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0252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8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029200" cy="5029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132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52144" y="5029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COMMERCIALE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de formation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fait grandir vos équipes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plateforme pour former, engager, suivre et certifier vos collaborateurs.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5623560"/>
            <a:ext cx="1724558" cy="384048"/>
          </a:xfrm>
          <a:prstGeom prst="roundRect">
            <a:avLst>
              <a:gd name="adj" fmla="val 50000"/>
            </a:avLst>
          </a:prstGeom>
          <a:solidFill>
            <a:srgbClr val="141A4D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623560"/>
            <a:ext cx="17245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&amp; Live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29230" y="5623560"/>
            <a:ext cx="1276502" cy="384048"/>
          </a:xfrm>
          <a:prstGeom prst="roundRect">
            <a:avLst>
              <a:gd name="adj" fmla="val 50000"/>
            </a:avLst>
          </a:prstGeom>
          <a:solidFill>
            <a:srgbClr val="141A4D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9230" y="5623560"/>
            <a:ext cx="1276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70325" y="5623560"/>
            <a:ext cx="1276502" cy="384048"/>
          </a:xfrm>
          <a:prstGeom prst="roundRect">
            <a:avLst>
              <a:gd name="adj" fmla="val 50000"/>
            </a:avLst>
          </a:prstGeom>
          <a:solidFill>
            <a:srgbClr val="141A4D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0325" y="5623560"/>
            <a:ext cx="12765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11419" y="5623560"/>
            <a:ext cx="1366114" cy="384048"/>
          </a:xfrm>
          <a:prstGeom prst="roundRect">
            <a:avLst>
              <a:gd name="adj" fmla="val 50000"/>
            </a:avLst>
          </a:prstGeom>
          <a:solidFill>
            <a:srgbClr val="141A4D"/>
          </a:solidFill>
          <a:ln w="12700">
            <a:solidFill>
              <a:srgbClr val="3A41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1419" y="5623560"/>
            <a:ext cx="1366114" cy="38404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2125" y="5623560"/>
            <a:ext cx="1186891" cy="384048"/>
          </a:xfrm>
          <a:prstGeom prst="roundRect">
            <a:avLst>
              <a:gd name="adj" fmla="val 50000"/>
            </a:avLst>
          </a:prstGeom>
          <a:solidFill>
            <a:srgbClr val="141A4D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2125" y="5623560"/>
            <a:ext cx="118689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RH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formation en entreprise reste trop souvent frustrante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148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C:\Users\USER\AppData\Local\Temp\claude\D--PROJECT-EFORMATION\daaecbc2-cedd-4629-b48b-60429442e0dc\scratchpad\pitch-deck\assets\icons\dol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101" y="2222541"/>
            <a:ext cx="419527" cy="41952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2075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Coûteuse à organiser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645920" y="238658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Présentiel, déplacements, supports dispersés : les coûts s'accumulent vite.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187452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21488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C:\Users\USER\AppData\Local\Temp\claude\D--PROJECT-EFORMATION\daaecbc2-cedd-4629-b48b-60429442e0dc\scratchpad\pitch-deck\assets\icons\trending-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221" y="2222541"/>
            <a:ext cx="419527" cy="4195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20756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engageante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178040" y="238658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Contenus statiques, aucune interaction : le taux de complétion s'effondre.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379476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14400" y="4069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C:\Users\USER\AppData\Local\Temp\claude\D--PROJECT-EFORMATION\daaecbc2-cedd-4629-b48b-60429442e0dc\scratchpad\pitch-deck\assets\icons\map-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101" y="4142781"/>
            <a:ext cx="419527" cy="41952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9959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dispersées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645920" y="430682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sites, plusieurs fuseaux : difficile de former tout le monde au même niveau.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172200" y="3794760"/>
            <a:ext cx="5074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46520" y="4069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C:\Users\USER\AppData\Local\Temp\claude\D--PROJECT-EFORMATION\daaecbc2-cedd-4629-b48b-60429442e0dc\scratchpad\pitch-deck\assets\icons\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0221" y="4142781"/>
            <a:ext cx="419527" cy="41952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78040" y="39959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à mesurer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178040" y="430682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suivi centralisé, impossible de savoir qui progresse et qui décroche.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 : une seule plateforme, tout inclus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2542032" cy="3749040"/>
          </a:xfrm>
          <a:prstGeom prst="roundRect">
            <a:avLst>
              <a:gd name="adj" fmla="val 5036"/>
            </a:avLst>
          </a:prstGeom>
          <a:solidFill>
            <a:srgbClr val="EEF1FB"/>
          </a:solidFill>
          <a:ln/>
        </p:spPr>
      </p:sp>
      <p:sp>
        <p:nvSpPr>
          <p:cNvPr id="8" name="Shape 6"/>
          <p:cNvSpPr/>
          <p:nvPr/>
        </p:nvSpPr>
        <p:spPr>
          <a:xfrm>
            <a:off x="1581912" y="2377440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9" name="Image 0" descr="C:\Users\USER\AppData\Local\Temp\claude\D--PROJECT-EFORMATION\daaecbc2-cedd-4629-b48b-60429442e0dc\scratchpad\pitch-deck\assets\icons\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500" y="2463028"/>
            <a:ext cx="487192" cy="4871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337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96112" y="3794760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Cours, modules, vidéos, documents et sessions live intégrées.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38144" y="1965960"/>
            <a:ext cx="2542032" cy="3749040"/>
          </a:xfrm>
          <a:prstGeom prst="roundRect">
            <a:avLst>
              <a:gd name="adj" fmla="val 5036"/>
            </a:avLst>
          </a:prstGeom>
          <a:solidFill>
            <a:srgbClr val="1E2761"/>
          </a:solidFill>
          <a:ln/>
        </p:spPr>
      </p:sp>
      <p:sp>
        <p:nvSpPr>
          <p:cNvPr id="13" name="Shape 10"/>
          <p:cNvSpPr/>
          <p:nvPr/>
        </p:nvSpPr>
        <p:spPr>
          <a:xfrm>
            <a:off x="4379976" y="2377440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4" name="Image 1" descr="C:\Users\USER\AppData\Local\Temp\claude\D--PROJECT-EFORMATION\daaecbc2-cedd-4629-b48b-60429442e0dc\scratchpad\pitch-deck\assets\icons\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564" y="2463028"/>
            <a:ext cx="487192" cy="4871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21024" y="3337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Engager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3694176" y="3794760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Badges, XP, classements : la motivation devient un réflexe.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36208" y="1965960"/>
            <a:ext cx="2542032" cy="3749040"/>
          </a:xfrm>
          <a:prstGeom prst="roundRect">
            <a:avLst>
              <a:gd name="adj" fmla="val 5036"/>
            </a:avLst>
          </a:prstGeom>
          <a:solidFill>
            <a:srgbClr val="EEF1FB"/>
          </a:solidFill>
          <a:ln/>
        </p:spPr>
      </p:sp>
      <p:sp>
        <p:nvSpPr>
          <p:cNvPr id="18" name="Shape 14"/>
          <p:cNvSpPr/>
          <p:nvPr/>
        </p:nvSpPr>
        <p:spPr>
          <a:xfrm>
            <a:off x="7178040" y="2377440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9" name="Image 2" descr="C:\Users\USER\AppData\Local\Temp\claude\D--PROJECT-EFORMATION\daaecbc2-cedd-4629-b48b-60429442e0dc\scratchpad\pitch-deck\assets\icons\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3628" y="2463028"/>
            <a:ext cx="487192" cy="4871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19088" y="3337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6492240" y="3794760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 temps réel pour RH et managers.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034272" y="1965960"/>
            <a:ext cx="2542032" cy="3749040"/>
          </a:xfrm>
          <a:prstGeom prst="roundRect">
            <a:avLst>
              <a:gd name="adj" fmla="val 5036"/>
            </a:avLst>
          </a:prstGeom>
          <a:solidFill>
            <a:srgbClr val="EEF1FB"/>
          </a:solidFill>
          <a:ln/>
        </p:spPr>
      </p:sp>
      <p:sp>
        <p:nvSpPr>
          <p:cNvPr id="23" name="Shape 18"/>
          <p:cNvSpPr/>
          <p:nvPr/>
        </p:nvSpPr>
        <p:spPr>
          <a:xfrm>
            <a:off x="9976104" y="2377440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4" name="Image 3" descr="C:\Users\USER\AppData\Local\Temp\claude\D--PROJECT-EFORMATION\daaecbc2-cedd-4629-b48b-60429442e0dc\scratchpad\pitch-deck\assets\icons\aw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1692" y="2463028"/>
            <a:ext cx="487192" cy="4871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17152" y="333756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Certifier</a:t>
            </a:r>
            <a:endParaRPr lang="en-US" sz="1900" dirty="0"/>
          </a:p>
        </p:txBody>
      </p:sp>
      <p:sp>
        <p:nvSpPr>
          <p:cNvPr id="26" name="Text 20"/>
          <p:cNvSpPr/>
          <p:nvPr/>
        </p:nvSpPr>
        <p:spPr>
          <a:xfrm>
            <a:off x="9290304" y="3794760"/>
            <a:ext cx="20299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automatiques, rappels d'expiration, conformité.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APPRENANT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tableau de bord simple et motivant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8" name="Image 0" descr="C:\Users\USER\AppData\Local\Temp\claude\D--PROJECT-EFORMATION\daaecbc2-cedd-4629-b48b-60429442e0dc\scratchpad\pitch-deck\assets\icons\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74" y="2008754"/>
            <a:ext cx="243596" cy="2435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911096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personnalisée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15568" y="2167128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Progression, cours en cours et badges au premier coup d'œil.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2532888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2" name="Image 1" descr="C:\Users\USER\AppData\Local\Temp\claude\D--PROJECT-EFORMATION\daaecbc2-cedd-4629-b48b-60429442e0dc\scratchpad\pitch-deck\assets\icons\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74" y="2575682"/>
            <a:ext cx="243596" cy="2435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15568" y="2478024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en temps réel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115568" y="2734056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Leçons, quiz et temps de formation suivis automatiquement.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3099816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C:\Users\USER\AppData\Local\Temp\claude\D--PROJECT-EFORMATION\daaecbc2-cedd-4629-b48b-60429442e0dc\scratchpad\pitch-deck\assets\icons\aw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74" y="3142610"/>
            <a:ext cx="243596" cy="2435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3044952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intégrée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15568" y="3300984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badges et classement entre pairs pour maintenir la motivation.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666744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0" name="Image 3" descr="C:\Users\USER\AppData\Local\Temp\claude\D--PROJECT-EFORMATION\daaecbc2-cedd-4629-b48b-60429442e0dc\scratchpad\pitch-deck\assets\icons\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74" y="3709538"/>
            <a:ext cx="243596" cy="2435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15568" y="3611880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à venir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115568" y="3867912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automatiques des prochaines sessions live.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982919" y="2249424"/>
            <a:ext cx="5650992" cy="3593592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DDE1F5"/>
            </a:solidFill>
            <a:prstDash val="solid"/>
          </a:ln>
          <a:effectLst>
            <a:outerShdw blurRad="228600" dist="76200" dir="5400000" algn="bl" rotWithShape="0">
              <a:srgbClr val="1E2761">
                <a:alpha val="22000"/>
              </a:srgbClr>
            </a:outerShdw>
          </a:effectLst>
        </p:spPr>
      </p:sp>
      <p:pic>
        <p:nvPicPr>
          <p:cNvPr id="24" name="Image 4" descr="C:\Users\USER\AppData\Local\Temp\claude\D--PROJECT-EFORMATION\daaecbc2-cedd-4629-b48b-60429442e0dc\scratchpad\shots\user-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5215" y="2331720"/>
            <a:ext cx="5486400" cy="3429000"/>
          </a:xfrm>
          <a:prstGeom prst="ellipse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CONTENUS &amp; PARCOURS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formations riches et flexibles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812280" y="1965960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8" name="Image 0" descr="C:\Users\USER\AppData\Local\Temp\claude\D--PROJECT-EFORMATION\daaecbc2-cedd-4629-b48b-60429442e0dc\scratchpad\pitch-deck\assets\icons\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074" y="2008754"/>
            <a:ext cx="243596" cy="2435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87768" y="1911096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87768" y="2167128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Vidéos, documents, articles et liens externes dans un même parcours.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12280" y="2532888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2" name="Image 1" descr="C:\Users\USER\AppData\Local\Temp\claude\D--PROJECT-EFORMATION\daaecbc2-cedd-4629-b48b-60429442e0dc\scratchpad\pitch-deck\assets\icons\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074" y="2575682"/>
            <a:ext cx="243596" cy="2435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87768" y="2478024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structurés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287768" y="2734056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claire en modules et leçons, à votre rythme.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812280" y="3099816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C:\Users\USER\AppData\Local\Temp\claude\D--PROJECT-EFORMATION\daaecbc2-cedd-4629-b48b-60429442e0dc\scratchpad\pitch-deck\assets\icons\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5074" y="3142610"/>
            <a:ext cx="243596" cy="2435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87768" y="3044952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notés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287768" y="3300984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minimum, questions tirées au sort, tentatives limitées.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812280" y="3666744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0" name="Image 3" descr="C:\Users\USER\AppData\Local\Temp\claude\D--PROJECT-EFORMATION\daaecbc2-cedd-4629-b48b-60429442e0dc\scratchpad\pitch-deck\assets\icons\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5074" y="3709538"/>
            <a:ext cx="243596" cy="2435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87768" y="3611880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complétion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287768" y="3867912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leçon terminée alimente la progression globale.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57784" y="2249424"/>
            <a:ext cx="5650992" cy="3593592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DDE1F5"/>
            </a:solidFill>
            <a:prstDash val="solid"/>
          </a:ln>
          <a:effectLst>
            <a:outerShdw blurRad="228600" dist="76200" dir="5400000" algn="bl" rotWithShape="0">
              <a:srgbClr val="1E2761">
                <a:alpha val="22000"/>
              </a:srgbClr>
            </a:outerShdw>
          </a:effectLst>
        </p:spPr>
      </p:sp>
      <p:pic>
        <p:nvPicPr>
          <p:cNvPr id="24" name="Image 4" descr="C:\Users\USER\AppData\Local\Temp\claude\D--PROJECT-EFORMATION\daaecbc2-cedd-4629-b48b-60429442e0dc\scratchpad\shots\user-course-deta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331720"/>
            <a:ext cx="5486400" cy="3429000"/>
          </a:xfrm>
          <a:prstGeom prst="ellipse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EN DIRECT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Formez vos équipes en direct, où qu’elles soient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8" name="Image 0" descr="C:\Users\USER\AppData\Local\Temp\claude\D--PROJECT-EFORMATION\daaecbc2-cedd-4629-b48b-60429442e0dc\scratchpad\pitch-deck\assets\icons\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74" y="2008754"/>
            <a:ext cx="243596" cy="2435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911096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Visioconférence intégrée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15568" y="2167128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d'outil tiers à gérer : tout se passe dans E-Formation.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2532888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2" name="Image 1" descr="C:\Users\USER\AppData\Local\Temp\claude\D--PROJECT-EFORMATION\daaecbc2-cedd-4629-b48b-60429442e0dc\scratchpad\pitch-deck\assets\icons\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74" y="2575682"/>
            <a:ext cx="243596" cy="2435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15568" y="2478024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ou privé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115568" y="2734056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ouvertes à tous ou réservées à une liste d’invités.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3099816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C:\Users\USER\AppData\Local\Temp\claude\D--PROJECT-EFORMATION\daaecbc2-cedd-4629-b48b-60429442e0dc\scratchpad\pitch-deck\assets\icons\p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74" y="3142610"/>
            <a:ext cx="243596" cy="2435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3044952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automatique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15568" y="3300984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session peut être revue à la demande.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666744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0" name="Image 3" descr="C:\Users\USER\AppData\Local\Temp\claude\D--PROJECT-EFORMATION\daaecbc2-cedd-4629-b48b-60429442e0dc\scratchpad\pitch-deck\assets\icons\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74" y="3709538"/>
            <a:ext cx="243596" cy="2435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15568" y="3611880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automatiques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115568" y="3867912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participants sont notifiés avant le début de la session.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982919" y="2249424"/>
            <a:ext cx="5650992" cy="3593592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DDE1F5"/>
            </a:solidFill>
            <a:prstDash val="solid"/>
          </a:ln>
          <a:effectLst>
            <a:outerShdw blurRad="228600" dist="76200" dir="5400000" algn="bl" rotWithShape="0">
              <a:srgbClr val="1E2761">
                <a:alpha val="22000"/>
              </a:srgbClr>
            </a:outerShdw>
          </a:effectLst>
        </p:spPr>
      </p:sp>
      <p:pic>
        <p:nvPicPr>
          <p:cNvPr id="24" name="Image 4" descr="C:\Users\USER\AppData\Local\Temp\claude\D--PROJECT-EFORMATION\daaecbc2-cedd-4629-b48b-60429442e0dc\scratchpad\shots\user-live-session-deta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5215" y="2331720"/>
            <a:ext cx="5486400" cy="3429000"/>
          </a:xfrm>
          <a:prstGeom prst="ellipse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L'engagement au cœur de l'expérience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812280" y="1965960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8" name="Image 0" descr="C:\Users\USER\AppData\Local\Temp\claude\D--PROJECT-EFORMATION\daaecbc2-cedd-4629-b48b-60429442e0dc\scratchpad\pitch-deck\assets\icons\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074" y="2008754"/>
            <a:ext cx="243596" cy="2435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87768" y="1911096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automatiques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87768" y="2167128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Décernés selon les résultats aux quiz et l’assiduité.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12280" y="2532888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2" name="Image 1" descr="C:\Users\USER\AppData\Local\Temp\claude\D--PROJECT-EFORMATION\daaecbc2-cedd-4629-b48b-60429442e0dc\scratchpad\pitch-deck\assets\icons\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074" y="2575682"/>
            <a:ext cx="243596" cy="2435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87768" y="2478024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d'expérience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287768" y="2734056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action fait progresser l'apprenant.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812280" y="3099816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C:\Users\USER\AppData\Local\Temp\claude\D--PROJECT-EFORMATION\daaecbc2-cedd-4629-b48b-60429442e0dc\scratchpad\pitch-deck\assets\icons\trending-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5074" y="3142610"/>
            <a:ext cx="243596" cy="2435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87768" y="3044952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entre pairs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287768" y="3300984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compétition saine qui stimule la participation.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812280" y="3666744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0" name="Image 3" descr="C:\Users\USER\AppData\Local\Temp\claude\D--PROJECT-EFORMATION\daaecbc2-cedd-4629-b48b-60429442e0dc\scratchpad\pitch-deck\assets\icons\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5074" y="3709538"/>
            <a:ext cx="243596" cy="2435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87768" y="3611880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clairs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287768" y="3867912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apprenant sait ce qu’il lui reste à accomplir.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57784" y="2249424"/>
            <a:ext cx="5650992" cy="3593592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DDE1F5"/>
            </a:solidFill>
            <a:prstDash val="solid"/>
          </a:ln>
          <a:effectLst>
            <a:outerShdw blurRad="228600" dist="76200" dir="5400000" algn="bl" rotWithShape="0">
              <a:srgbClr val="1E2761">
                <a:alpha val="22000"/>
              </a:srgbClr>
            </a:outerShdw>
          </a:effectLst>
        </p:spPr>
      </p:sp>
      <p:pic>
        <p:nvPicPr>
          <p:cNvPr id="24" name="Image 4" descr="C:\Users\USER\AppData\Local\Temp\claude\D--PROJECT-EFORMATION\daaecbc2-cedd-4629-b48b-60429442e0dc\scratchpad\shots\user-badg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331720"/>
            <a:ext cx="5486400" cy="3429000"/>
          </a:xfrm>
          <a:prstGeom prst="ellipse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Valorisez les compétences acquises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8" name="Image 0" descr="C:\Users\USER\AppData\Local\Temp\claude\D--PROJECT-EFORMATION\daaecbc2-cedd-4629-b48b-60429442e0dc\scratchpad\pitch-deck\assets\icons\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74" y="2008754"/>
            <a:ext cx="243596" cy="2435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911096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automatique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15568" y="2167128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certificat délivré dès qu'une formation est validée.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2532888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2" name="Image 1" descr="C:\Users\USER\AppData\Local\Temp\claude\D--PROJECT-EFORMATION\daaecbc2-cedd-4629-b48b-60429442e0dc\scratchpad\pitch-deck\assets\icons\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74" y="2575682"/>
            <a:ext cx="243596" cy="2435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15568" y="2478024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d'expiration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115568" y="2734056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avant échéance pour anticiper le renouvellement.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3099816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C:\Users\USER\AppData\Local\Temp\claude\D--PROJECT-EFORMATION\daaecbc2-cedd-4629-b48b-60429442e0dc\scratchpad\pitch-deck\assets\icons\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74" y="3142610"/>
            <a:ext cx="243596" cy="2435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3044952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15568" y="3300984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 pour vos obligations réglementaires.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666744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0" name="Image 3" descr="C:\Users\USER\AppData\Local\Temp\claude\D--PROJECT-EFORMATION\daaecbc2-cedd-4629-b48b-60429442e0dc\scratchpad\pitch-deck\assets\icons\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74" y="3709538"/>
            <a:ext cx="243596" cy="2435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15568" y="3611880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personnalisables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115568" y="3867912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</a:t>
            </a:r>
            <a:r>
              <a:rPr lang="en-US" sz="1150" dirty="0" err="1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adaptatifs</a:t>
            </a: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982919" y="2249424"/>
            <a:ext cx="5650992" cy="3593592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DDE1F5"/>
            </a:solidFill>
            <a:prstDash val="solid"/>
          </a:ln>
          <a:effectLst>
            <a:outerShdw blurRad="228600" dist="76200" dir="5400000" algn="bl" rotWithShape="0">
              <a:srgbClr val="1E2761">
                <a:alpha val="22000"/>
              </a:srgbClr>
            </a:outerShdw>
          </a:effectLst>
        </p:spPr>
      </p:sp>
      <p:pic>
        <p:nvPicPr>
          <p:cNvPr id="24" name="Image 4" descr="C:\Users\USER\AppData\Local\Temp\claude\D--PROJECT-EFORMATION\daaecbc2-cedd-4629-b48b-60429442e0dc\scratchpad\shots\user-certificat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5215" y="2331720"/>
            <a:ext cx="5486400" cy="3429000"/>
          </a:xfrm>
          <a:prstGeom prst="ellipse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tuteur intelligent, disponible 24h/24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812280" y="1965960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8" name="Image 0" descr="C:\Users\USER\AppData\Local\Temp\claude\D--PROJECT-EFORMATION\daaecbc2-cedd-4629-b48b-60429442e0dc\scratchpad\pitch-deck\assets\icons\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074" y="2008754"/>
            <a:ext cx="243596" cy="2435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87768" y="1911096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instantanées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87768" y="2167128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contenus de formation, à toute heure.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12280" y="2532888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2" name="Image 1" descr="C:\Users\USER\AppData\Local\Temp\claude\D--PROJECT-EFORMATION\daaecbc2-cedd-4629-b48b-60429442e0dc\scratchpad\pitch-deck\assets\icons\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074" y="2575682"/>
            <a:ext cx="243596" cy="2435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87768" y="2478024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 au choix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287768" y="2734056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L'apprenant choisit sa langue de réponse, indépendamment de l'interface.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812280" y="3099816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C:\Users\USER\AppData\Local\Temp\claude\D--PROJECT-EFORMATION\daaecbc2-cedd-4629-b48b-60429442e0dc\scratchpad\pitch-deck\assets\icons\mess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5074" y="3142610"/>
            <a:ext cx="243596" cy="2435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87768" y="3044952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actives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287768" y="3300984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et actions rapides pour guider l’apprenant.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812280" y="3666744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0" name="Image 3" descr="C:\Users\USER\AppData\Local\Temp\claude\D--PROJECT-EFORMATION\daaecbc2-cedd-4629-b48b-60429442e0dc\scratchpad\pitch-deck\assets\icons\trending-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5074" y="3709538"/>
            <a:ext cx="243596" cy="2435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87768" y="3611880"/>
            <a:ext cx="42638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renforcée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287768" y="3867912"/>
            <a:ext cx="4263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sollicitations formateur, plus de progression.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57784" y="2249424"/>
            <a:ext cx="5650992" cy="3593592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DDE1F5"/>
            </a:solidFill>
            <a:prstDash val="solid"/>
          </a:ln>
          <a:effectLst>
            <a:outerShdw blurRad="228600" dist="76200" dir="5400000" algn="bl" rotWithShape="0">
              <a:srgbClr val="1E2761">
                <a:alpha val="22000"/>
              </a:srgbClr>
            </a:outerShdw>
          </a:effectLst>
        </p:spPr>
      </p:sp>
      <p:pic>
        <p:nvPicPr>
          <p:cNvPr id="24" name="Image 4" descr="C:\Users\USER\AppData\Local\Temp\claude\D--PROJECT-EFORMATION\daaecbc2-cedd-4629-b48b-60429442e0dc\scratchpad\shots\user-ai-tu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2331720"/>
            <a:ext cx="5486400" cy="3429000"/>
          </a:xfrm>
          <a:prstGeom prst="ellipse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&amp; REPORTING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vrai tableau de bord business pour vos managers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8" name="Image 0" descr="C:\Users\USER\AppData\Local\Temp\claude\D--PROJECT-EFORMATION\daaecbc2-cedd-4629-b48b-60429442e0dc\scratchpad\pitch-deck\assets\icons\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74" y="2008754"/>
            <a:ext cx="243596" cy="2435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911096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complétion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15568" y="2167128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globale et par équipe, en temps réel.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2532888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2" name="Image 1" descr="C:\Users\USER\AppData\Local\Temp\claude\D--PROJECT-EFORMATION\daaecbc2-cedd-4629-b48b-60429442e0dc\scratchpad\pitch-deck\assets\icons\trending-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74" y="2575682"/>
            <a:ext cx="243596" cy="2435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15568" y="2478024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décrocheurs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115568" y="2734056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leçon par leçon pour repérer les points de friction.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3099816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6" name="Image 2" descr="C:\Users\USER\AppData\Local\Temp\claude\D--PROJECT-EFORMATION\daaecbc2-cedd-4629-b48b-60429442e0dc\scratchpad\pitch-deck\assets\icons\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74" y="3142610"/>
            <a:ext cx="243596" cy="2435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3044952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par équipe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15568" y="3300984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manager suit l’avancement de ses collaborateurs.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666744"/>
            <a:ext cx="329184" cy="329184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0" name="Image 3" descr="C:\Users\USER\AppData\Local\Temp\claude\D--PROJECT-EFORMATION\daaecbc2-cedd-4629-b48b-60429442e0dc\scratchpad\pitch-deck\assets\icons\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74" y="3709538"/>
            <a:ext cx="243596" cy="2435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15568" y="3611880"/>
            <a:ext cx="4492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en un clic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115568" y="3867912"/>
            <a:ext cx="44924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données exportables pour vos comités de pilotage.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982919" y="2249424"/>
            <a:ext cx="5650992" cy="3593592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DDE1F5"/>
            </a:solidFill>
            <a:prstDash val="solid"/>
          </a:ln>
          <a:effectLst>
            <a:outerShdw blurRad="228600" dist="76200" dir="5400000" algn="bl" rotWithShape="0">
              <a:srgbClr val="1E2761">
                <a:alpha val="22000"/>
              </a:srgbClr>
            </a:outerShdw>
          </a:effectLst>
        </p:spPr>
      </p:sp>
      <p:pic>
        <p:nvPicPr>
          <p:cNvPr id="24" name="Image 4" descr="C:\Users\USER\AppData\Local\Temp\claude\D--PROJECT-EFORMATION\daaecbc2-cedd-4629-b48b-60429442e0dc\scratchpad\shots\admin-analytic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5215" y="2331720"/>
            <a:ext cx="5486400" cy="3429000"/>
          </a:xfrm>
          <a:prstGeom prst="ellipse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DSI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 pour l’entreprise, prêt pour la croissance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2542032" cy="3749040"/>
          </a:xfrm>
          <a:prstGeom prst="roundRect">
            <a:avLst>
              <a:gd name="adj" fmla="val 5036"/>
            </a:avLst>
          </a:prstGeom>
          <a:solidFill>
            <a:srgbClr val="141A4D"/>
          </a:solidFill>
          <a:ln w="12700">
            <a:solidFill>
              <a:srgbClr val="323A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912" y="2377440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9" name="Image 0" descr="C:\Users\USER\AppData\Local\Temp\claude\D--PROJECT-EFORMATION\daaecbc2-cedd-4629-b48b-60429442e0dc\scratchpad\pitch-deck\assets\icons\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500" y="2463028"/>
            <a:ext cx="487192" cy="4871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3375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des données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96112" y="3931920"/>
            <a:ext cx="202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renforcée, gestion fine des permissions.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38144" y="1965960"/>
            <a:ext cx="2542032" cy="3749040"/>
          </a:xfrm>
          <a:prstGeom prst="roundRect">
            <a:avLst>
              <a:gd name="adj" fmla="val 5036"/>
            </a:avLst>
          </a:prstGeom>
          <a:solidFill>
            <a:srgbClr val="141A4D"/>
          </a:solidFill>
          <a:ln w="12700">
            <a:solidFill>
              <a:srgbClr val="323A7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79976" y="2377440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4" name="Image 1" descr="C:\Users\USER\AppData\Local\Temp\claude\D--PROJECT-EFORMATION\daaecbc2-cedd-4629-b48b-60429442e0dc\scratchpad\pitch-deck\assets\icons\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564" y="2463028"/>
            <a:ext cx="487192" cy="4871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21024" y="33375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rôles utilisateurs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694176" y="3931920"/>
            <a:ext cx="202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l’apprenant au directeur, chacun voit ce qui le concerne.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36208" y="1965960"/>
            <a:ext cx="2542032" cy="3749040"/>
          </a:xfrm>
          <a:prstGeom prst="roundRect">
            <a:avLst>
              <a:gd name="adj" fmla="val 5036"/>
            </a:avLst>
          </a:prstGeom>
          <a:solidFill>
            <a:srgbClr val="141A4D"/>
          </a:solidFill>
          <a:ln w="12700">
            <a:solidFill>
              <a:srgbClr val="323A7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78040" y="2377440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9" name="Image 2" descr="C:\Users\USER\AppData\Local\Temp\claude\D--PROJECT-EFORMATION\daaecbc2-cedd-4629-b48b-60429442e0dc\scratchpad\pitch-deck\assets\icons\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3628" y="2463028"/>
            <a:ext cx="487192" cy="4871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19088" y="33375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Multi-organisation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92240" y="3931920"/>
            <a:ext cx="202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entreprises, directions et services dans un seul espace.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034272" y="1965960"/>
            <a:ext cx="2542032" cy="3749040"/>
          </a:xfrm>
          <a:prstGeom prst="roundRect">
            <a:avLst>
              <a:gd name="adj" fmla="val 5036"/>
            </a:avLst>
          </a:prstGeom>
          <a:solidFill>
            <a:srgbClr val="141A4D"/>
          </a:solidFill>
          <a:ln w="12700">
            <a:solidFill>
              <a:srgbClr val="323A7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976104" y="2377440"/>
            <a:ext cx="658368" cy="65836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4" name="Image 3" descr="C:\Users\USER\AppData\Local\Temp\claude\D--PROJECT-EFORMATION\daaecbc2-cedd-4629-b48b-60429442e0dc\scratchpad\pitch-deck\assets\icons\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1692" y="2463028"/>
            <a:ext cx="487192" cy="4871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17152" y="33375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 &amp; anglais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290304" y="3931920"/>
            <a:ext cx="20299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bilingue, prête pour vos équipes internationales.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0040"/>
            <a:ext cx="274320" cy="274320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127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2416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E-FORMATION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la </a:t>
            </a:r>
            <a:r>
              <a:rPr lang="en-US" sz="3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8" name="Image 0" descr="C:\Users\USER\AppData\Local\Temp\claude\D--PROJECT-EFORMATION\daaecbc2-cedd-4629-b48b-60429442e0dc\scratchpad\pitch-deck\assets\icons\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1933956"/>
            <a:ext cx="338328" cy="338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98448" y="18013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Tout-en-un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54880" y="1801368"/>
            <a:ext cx="6796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Formation, live, gamification, IA et certification : plus besoin de jongler entre cinq outils.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2459736"/>
            <a:ext cx="10911535" cy="0"/>
          </a:xfrm>
          <a:prstGeom prst="line">
            <a:avLst/>
          </a:prstGeom>
          <a:noFill/>
          <a:ln w="12700">
            <a:solidFill>
              <a:srgbClr val="E6E9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715768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3" name="Image 1" descr="C:\Users\USER\AppData\Local\Temp\claude\D--PROJECT-EFORMATION\daaecbc2-cedd-4629-b48b-60429442e0dc\scratchpad\pitch-deck\assets\icons\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2775204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98448" y="26426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intégrée nativement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754880" y="2642616"/>
            <a:ext cx="6796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module ajouté après coup : l'assistant fait partie du cœur du produit.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3300984"/>
            <a:ext cx="10911535" cy="0"/>
          </a:xfrm>
          <a:prstGeom prst="line">
            <a:avLst/>
          </a:prstGeom>
          <a:noFill/>
          <a:ln w="12700">
            <a:solidFill>
              <a:srgbClr val="E6E9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3557016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18" name="Image 2" descr="C:\Users\USER\AppData\Local\Temp\claude\D--PROJECT-EFORMATION\daaecbc2-cedd-4629-b48b-60429442e0dc\scratchpad\pitch-deck\assets\icons\gr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3616452"/>
            <a:ext cx="338328" cy="3383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98448" y="34838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Multi-organisation dès le départ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754880" y="3483864"/>
            <a:ext cx="6796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Pensé pour les groupes à plusieurs entités, pas seulement pour une seule équipe.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40080" y="4142232"/>
            <a:ext cx="10911535" cy="0"/>
          </a:xfrm>
          <a:prstGeom prst="line">
            <a:avLst/>
          </a:prstGeom>
          <a:noFill/>
          <a:ln w="12700">
            <a:solidFill>
              <a:srgbClr val="E6E9F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" y="4398264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3" name="Image 3" descr="C:\Users\USER\AppData\Local\Temp\claude\D--PROJECT-EFORMATION\daaecbc2-cedd-4629-b48b-60429442e0dc\scratchpad\pitch-deck\assets\icons\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4457700"/>
            <a:ext cx="338328" cy="33832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98448" y="43251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Bilingue français / anglais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4754880" y="4325112"/>
            <a:ext cx="6796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l'interface, y compris l'assistant IA, s'adapte à la langue de chacun.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40080" y="4983480"/>
            <a:ext cx="10911535" cy="0"/>
          </a:xfrm>
          <a:prstGeom prst="line">
            <a:avLst/>
          </a:prstGeom>
          <a:noFill/>
          <a:ln w="12700">
            <a:solidFill>
              <a:srgbClr val="E6E9F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40080" y="5239512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28" name="Image 4" descr="C:\Users\USER\AppData\Local\Temp\claude\D--PROJECT-EFORMATION\daaecbc2-cedd-4629-b48b-60429442e0dc\scratchpad\pitch-deck\assets\icons\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" y="5298948"/>
            <a:ext cx="338328" cy="33832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98448" y="5166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facile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754880" y="5166360"/>
            <a:ext cx="6796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interface pensée pour les utilisateurs métier, pas seulement pour les experts IT.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329184" cy="329184"/>
          </a:xfrm>
          <a:prstGeom prst="roundRect">
            <a:avLst>
              <a:gd name="adj" fmla="val 28000"/>
            </a:avLst>
          </a:prstGeom>
          <a:solidFill>
            <a:srgbClr val="FF6B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132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5029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E-Formation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à transformer votre formation 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C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Parlons de vos objectifs de formation et voyons ensemble comment E-Formation peut accompagner vos équipes.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834640" cy="566928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791</Words>
  <Application>Microsoft Office PowerPoint</Application>
  <PresentationFormat>Grand écran</PresentationFormat>
  <Paragraphs>174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ouirom ouirom</cp:lastModifiedBy>
  <cp:revision>5</cp:revision>
  <dcterms:created xsi:type="dcterms:W3CDTF">2026-08-16T15:31:09Z</dcterms:created>
  <dcterms:modified xsi:type="dcterms:W3CDTF">2026-08-16T16:17:41Z</dcterms:modified>
</cp:coreProperties>
</file>